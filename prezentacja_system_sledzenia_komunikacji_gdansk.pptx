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40000" y="216000"/>
            <a:ext cx="5220000" cy="3384000"/>
          </a:xfrm>
          <a:prstGeom prst="line">
            <a:avLst/>
          </a:prstGeom>
          <a:ln w="12700">
            <a:solidFill>
              <a:srgbClr val="20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380000" y="216000"/>
            <a:ext cx="4680000" cy="3582000"/>
          </a:xfrm>
          <a:prstGeom prst="line">
            <a:avLst/>
          </a:prstGeom>
          <a:ln w="12700">
            <a:solidFill>
              <a:srgbClr val="20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920000" y="216000"/>
            <a:ext cx="4140000" cy="3780000"/>
          </a:xfrm>
          <a:prstGeom prst="line">
            <a:avLst/>
          </a:prstGeom>
          <a:ln w="12700">
            <a:solidFill>
              <a:srgbClr val="20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460000" y="216000"/>
            <a:ext cx="3600000" cy="3978000"/>
          </a:xfrm>
          <a:prstGeom prst="line">
            <a:avLst/>
          </a:prstGeom>
          <a:ln w="12700">
            <a:solidFill>
              <a:srgbClr val="20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000000" y="216000"/>
            <a:ext cx="3060000" cy="4176000"/>
          </a:xfrm>
          <a:prstGeom prst="line">
            <a:avLst/>
          </a:prstGeom>
          <a:ln w="12700">
            <a:solidFill>
              <a:srgbClr val="20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540000" y="216000"/>
            <a:ext cx="2520000" cy="4374000"/>
          </a:xfrm>
          <a:prstGeom prst="line">
            <a:avLst/>
          </a:prstGeom>
          <a:ln w="12700">
            <a:solidFill>
              <a:srgbClr val="20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080000" y="216000"/>
            <a:ext cx="1980000" cy="4572000"/>
          </a:xfrm>
          <a:prstGeom prst="line">
            <a:avLst/>
          </a:prstGeom>
          <a:ln w="12700">
            <a:solidFill>
              <a:srgbClr val="20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620000" y="216000"/>
            <a:ext cx="1440000" cy="4770000"/>
          </a:xfrm>
          <a:prstGeom prst="line">
            <a:avLst/>
          </a:prstGeom>
          <a:ln w="12700">
            <a:solidFill>
              <a:srgbClr val="20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623999" y="360000"/>
            <a:ext cx="5508001" cy="720000"/>
          </a:xfrm>
          <a:prstGeom prst="line">
            <a:avLst/>
          </a:prstGeom>
          <a:ln w="12700">
            <a:solidFill>
              <a:srgbClr val="20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23999" y="1116000"/>
            <a:ext cx="5508001" cy="864000"/>
          </a:xfrm>
          <a:prstGeom prst="line">
            <a:avLst/>
          </a:prstGeom>
          <a:ln w="12700">
            <a:solidFill>
              <a:srgbClr val="20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623999" y="1872000"/>
            <a:ext cx="5508001" cy="1008000"/>
          </a:xfrm>
          <a:prstGeom prst="line">
            <a:avLst/>
          </a:prstGeom>
          <a:ln w="12700">
            <a:solidFill>
              <a:srgbClr val="20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23999" y="2628000"/>
            <a:ext cx="5508001" cy="1152000"/>
          </a:xfrm>
          <a:prstGeom prst="line">
            <a:avLst/>
          </a:prstGeom>
          <a:ln w="12700">
            <a:solidFill>
              <a:srgbClr val="20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623999" y="3384000"/>
            <a:ext cx="5508001" cy="1296000"/>
          </a:xfrm>
          <a:prstGeom prst="line">
            <a:avLst/>
          </a:prstGeom>
          <a:ln w="12700">
            <a:solidFill>
              <a:srgbClr val="203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0000" y="522000"/>
            <a:ext cx="2988000" cy="270000"/>
          </a:xfrm>
          <a:prstGeom prst="round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Prezentacja projektu inżynierskiego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1080000"/>
            <a:ext cx="6660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System śledzenia na żywo</a:t>
            </a:r>
            <a:br/>
            <a:r>
              <a:t>pojazdów komunikacji miejskiej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99" y="2484000"/>
            <a:ext cx="66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EE8F4"/>
                </a:solidFill>
                <a:latin typeface="Aptos"/>
              </a:defRPr>
            </a:pPr>
            <a:r>
              <a:t>Portal internetowy dla Gdańska: mapa pojazdów, rozkłady jazdy i prognozowany czas przyjazdu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999" y="3636000"/>
            <a:ext cx="4644000" cy="10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999" y="3636000"/>
            <a:ext cx="64800" cy="1080000"/>
          </a:xfrm>
          <a:prstGeom prst="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3761999"/>
            <a:ext cx="43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F44"/>
                </a:solidFill>
                <a:latin typeface="Aptos"/>
              </a:defRPr>
            </a:pPr>
            <a:r>
              <a:t>Autorzy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000" y="4050000"/>
            <a:ext cx="4356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8303C"/>
                </a:solidFill>
                <a:latin typeface="Aptos"/>
              </a:defRPr>
            </a:pPr>
            <a:r>
              <a:t>Yuriy Dyedyk, 201316 KTI</a:t>
            </a:r>
            <a:br/>
            <a:r>
              <a:t>Valery Hulitsenka, 201271 KISI</a:t>
            </a:r>
            <a:br/>
            <a:r>
              <a:t>Artem Ivliiev, 201252 KISI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80000" y="3636000"/>
            <a:ext cx="4104000" cy="10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80000" y="3636000"/>
            <a:ext cx="64800" cy="1080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42000" y="3761999"/>
            <a:ext cx="38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F44"/>
                </a:solidFill>
                <a:latin typeface="Aptos"/>
              </a:defRPr>
            </a:pPr>
            <a:r>
              <a:t>Promotor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000" y="4050000"/>
            <a:ext cx="3816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8303C"/>
                </a:solidFill>
                <a:latin typeface="Aptos"/>
              </a:defRPr>
            </a:pPr>
            <a:r>
              <a:t>dr hab. inż. Zbigniew Łubniewski KSG</a:t>
            </a:r>
            <a:br/>
            <a:r>
              <a:t>Spotkania: raz na 6 tygodni oraz według potrzeby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7999" y="5130000"/>
            <a:ext cx="1007999" cy="288000"/>
          </a:xfrm>
          <a:prstGeom prst="round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FOSS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54000" y="5130000"/>
            <a:ext cx="1475999" cy="288000"/>
          </a:xfrm>
          <a:prstGeom prst="round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brak reklam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6000" y="5130000"/>
            <a:ext cx="1530000" cy="288000"/>
          </a:xfrm>
          <a:prstGeom prst="round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Mobile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DEE8F4"/>
                </a:solidFill>
                <a:latin typeface="Aptos"/>
              </a:defRPr>
            </a:pPr>
            <a:r>
              <a:t>System śledzenia pojazdów komunikacji miejskiej w Gdańsku |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64000"/>
            <a:ext cx="413999" cy="149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F44"/>
                </a:solidFill>
                <a:latin typeface="Aptos Display"/>
              </a:defRPr>
            </a:pPr>
            <a:r>
              <a:t>Plan prezentacji</a:t>
            </a:r>
          </a:p>
          <a:p>
            <a:pPr>
              <a:spcBef>
                <a:spcPts val="400"/>
              </a:spcBef>
              <a:defRPr sz="1500">
                <a:solidFill>
                  <a:srgbClr val="606C7C"/>
                </a:solidFill>
                <a:latin typeface="Aptos"/>
              </a:defRPr>
            </a:pPr>
            <a:r>
              <a:t>Układ przygotowany na wystąpienie ok. 10-15 minut</a:t>
            </a:r>
          </a:p>
        </p:txBody>
      </p:sp>
      <p:sp>
        <p:nvSpPr>
          <p:cNvPr id="6" name="Oval 5"/>
          <p:cNvSpPr/>
          <p:nvPr/>
        </p:nvSpPr>
        <p:spPr>
          <a:xfrm>
            <a:off x="792000" y="1440000"/>
            <a:ext cx="450000" cy="450000"/>
          </a:xfrm>
          <a:prstGeom prst="ellipse">
            <a:avLst/>
          </a:prstGeom>
          <a:solidFill>
            <a:srgbClr val="18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4000" y="1422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F44"/>
                </a:solidFill>
                <a:latin typeface="Aptos"/>
              </a:defRPr>
            </a:pPr>
            <a:r>
              <a:t>Stan wiedzy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4000" y="1710000"/>
            <a:ext cx="89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C"/>
                </a:solidFill>
                <a:latin typeface="Aptos"/>
              </a:defRPr>
            </a:pPr>
            <a:r>
              <a:t>Jak obecnie realizuje się śledzenie transportu publicznego i z jakich danych korzystają aplikacje.</a:t>
            </a:r>
          </a:p>
        </p:txBody>
      </p:sp>
      <p:sp>
        <p:nvSpPr>
          <p:cNvPr id="9" name="Oval 8"/>
          <p:cNvSpPr/>
          <p:nvPr/>
        </p:nvSpPr>
        <p:spPr>
          <a:xfrm>
            <a:off x="792000" y="2448000"/>
            <a:ext cx="450000" cy="45000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4000" y="2430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F44"/>
                </a:solidFill>
                <a:latin typeface="Aptos"/>
              </a:defRPr>
            </a:pPr>
            <a:r>
              <a:t>Uzasadnienie potrzeby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4000" y="2718000"/>
            <a:ext cx="89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C"/>
                </a:solidFill>
                <a:latin typeface="Aptos"/>
              </a:defRPr>
            </a:pPr>
            <a:r>
              <a:t>Jakie luki pozostają w istniejących rozwiązaniach i dlaczego projekt ma sens dla pasażerów.</a:t>
            </a:r>
          </a:p>
        </p:txBody>
      </p:sp>
      <p:sp>
        <p:nvSpPr>
          <p:cNvPr id="12" name="Oval 11"/>
          <p:cNvSpPr/>
          <p:nvPr/>
        </p:nvSpPr>
        <p:spPr>
          <a:xfrm>
            <a:off x="792000" y="3456000"/>
            <a:ext cx="450000" cy="450000"/>
          </a:xfrm>
          <a:prstGeom prst="ellipse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4000" y="3437999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F44"/>
                </a:solidFill>
                <a:latin typeface="Aptos"/>
              </a:defRPr>
            </a:pPr>
            <a:r>
              <a:t>Cele i zakres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4000" y="3726000"/>
            <a:ext cx="89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C"/>
                </a:solidFill>
                <a:latin typeface="Aptos"/>
              </a:defRPr>
            </a:pPr>
            <a:r>
              <a:t>Co musi powstać, aby pracę uznać za zakończoną: funkcje, wymagania, kryteria sukcesu.</a:t>
            </a:r>
          </a:p>
        </p:txBody>
      </p:sp>
      <p:sp>
        <p:nvSpPr>
          <p:cNvPr id="15" name="Oval 14"/>
          <p:cNvSpPr/>
          <p:nvPr/>
        </p:nvSpPr>
        <p:spPr>
          <a:xfrm>
            <a:off x="792000" y="4463999"/>
            <a:ext cx="450000" cy="450000"/>
          </a:xfrm>
          <a:prstGeom prst="ellipse">
            <a:avLst/>
          </a:prstGeom>
          <a:solidFill>
            <a:srgbClr val="EE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4000" y="4445999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F44"/>
                </a:solidFill>
                <a:latin typeface="Aptos"/>
              </a:defRPr>
            </a:pPr>
            <a:r>
              <a:t>Koncepcja realizacji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4000" y="4733999"/>
            <a:ext cx="89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C"/>
                </a:solidFill>
                <a:latin typeface="Aptos"/>
              </a:defRPr>
            </a:pPr>
            <a:r>
              <a:t>Architektura, technologie, role zespołu, plan prac oraz główne ryzyka.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C"/>
                </a:solidFill>
                <a:latin typeface="Aptos"/>
              </a:defRPr>
            </a:pPr>
            <a:r>
              <a:t>System śledzenia pojazdów komunikacji miejskiej w Gdańsku |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64000"/>
            <a:ext cx="413999" cy="149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F44"/>
                </a:solidFill>
                <a:latin typeface="Aptos Display"/>
              </a:defRPr>
            </a:pPr>
            <a:r>
              <a:t>Stan wiedzy: jak działają systemy realtime w transporcie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098000"/>
            <a:ext cx="2124000" cy="270000"/>
          </a:xfrm>
          <a:prstGeom prst="round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standardowy łańcuch danych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1530000"/>
            <a:ext cx="2520000" cy="115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000" y="1530000"/>
            <a:ext cx="64800" cy="1152000"/>
          </a:xfrm>
          <a:prstGeom prst="rect">
            <a:avLst/>
          </a:prstGeom>
          <a:solidFill>
            <a:srgbClr val="18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000" y="1655999"/>
            <a:ext cx="22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1. Dane z pojazdu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1944000"/>
            <a:ext cx="2232000" cy="66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C"/>
                </a:solidFill>
                <a:latin typeface="Aptos"/>
              </a:defRPr>
            </a:pPr>
            <a:r>
              <a:t>Moduły GPS/AVL w pojazdach wysyłają pozycję, kierunek, prędkość i znacznik czasu.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1999" y="1530000"/>
            <a:ext cx="2520000" cy="115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1999" y="1530000"/>
            <a:ext cx="64800" cy="1152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3999" y="1655999"/>
            <a:ext cx="22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2. Integracja operatora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3999" y="1944000"/>
            <a:ext cx="2232000" cy="66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C"/>
                </a:solidFill>
                <a:latin typeface="Aptos"/>
              </a:defRPr>
            </a:pPr>
            <a:r>
              <a:t>Organizator transportu agreguje dane, filtruje błędy i publikuje feed albo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999" y="1530000"/>
            <a:ext cx="2520000" cy="115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999" y="1530000"/>
            <a:ext cx="64800" cy="1152000"/>
          </a:xfrm>
          <a:prstGeom prst="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5999" y="1655999"/>
            <a:ext cx="22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3. Backend aplikacji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5999" y="1944000"/>
            <a:ext cx="2232000" cy="66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C"/>
                </a:solidFill>
                <a:latin typeface="Aptos"/>
              </a:defRPr>
            </a:pPr>
            <a:r>
              <a:t>Serwis pobiera dane cyklicznie, buforuje je i udostępnia w formacie wygodnym dla frontendu, np. GeoJSON.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6000" y="1530000"/>
            <a:ext cx="2448000" cy="115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36000" y="1530000"/>
            <a:ext cx="64800" cy="1152000"/>
          </a:xfrm>
          <a:prstGeom prst="rect">
            <a:avLst/>
          </a:prstGeom>
          <a:solidFill>
            <a:srgbClr val="EE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8000" y="1655999"/>
            <a:ext cx="21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4. Mapa i 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000" y="1944000"/>
            <a:ext cx="2160000" cy="66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C"/>
                </a:solidFill>
                <a:latin typeface="Aptos"/>
              </a:defRPr>
            </a:pPr>
            <a:r>
              <a:t>Frontend renderuje markery pojazdów, przystanki, rozkłady i szacowany czas przyjazdu.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58000" y="2106000"/>
            <a:ext cx="198000" cy="0"/>
          </a:xfrm>
          <a:prstGeom prst="line">
            <a:avLst/>
          </a:prstGeom>
          <a:ln w="25400">
            <a:solidFill>
              <a:srgbClr val="0A1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30000" y="2106000"/>
            <a:ext cx="198000" cy="0"/>
          </a:xfrm>
          <a:prstGeom prst="line">
            <a:avLst/>
          </a:prstGeom>
          <a:ln w="25400">
            <a:solidFill>
              <a:srgbClr val="0A1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02000" y="2106000"/>
            <a:ext cx="198000" cy="0"/>
          </a:xfrm>
          <a:prstGeom prst="line">
            <a:avLst/>
          </a:prstGeom>
          <a:ln w="25400">
            <a:solidFill>
              <a:srgbClr val="0A1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2000" y="3311999"/>
            <a:ext cx="10260000" cy="1368000"/>
          </a:xfrm>
          <a:prstGeom prst="rect">
            <a:avLst/>
          </a:prstGeom>
          <a:noFill/>
        </p:spPr>
        <p:txBody>
          <a:bodyPr wrap="square" lIns="36000" rIns="36000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Powszechne formaty: GTFS dla rozkładów oraz GTFS Realtime dla pozycji pojazdów, odjazdów i alertów.</a:t>
            </a:r>
          </a:p>
          <a:p>
            <a:pPr>
              <a:spcAft>
                <a:spcPts val="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Aktualizacje muszą być częste, bo opóźnione dane szybko tracą wartość użytkową.</a:t>
            </a:r>
          </a:p>
          <a:p>
            <a:pPr>
              <a:spcAft>
                <a:spcPts val="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Największe wyzwania praktyczne: jakość GPS, opóźnienia feedu, duża liczba markerów oraz czytelny UX na telefonie.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6210000"/>
            <a:ext cx="1072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06C7C"/>
                </a:solidFill>
                <a:latin typeface="Aptos"/>
              </a:defRPr>
            </a:pPr>
            <a:r>
              <a:t>Źródła: GTFS Realtime Vehicle Positions, GTFS Realtime Best Practices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C"/>
                </a:solidFill>
                <a:latin typeface="Aptos"/>
              </a:defRPr>
            </a:pPr>
            <a:r>
              <a:t>System śledzenia pojazdów komunikacji miejskiej w Gdańsku |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64000"/>
            <a:ext cx="413999" cy="149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F44"/>
                </a:solidFill>
                <a:latin typeface="Aptos Display"/>
              </a:defRPr>
            </a:pPr>
            <a:r>
              <a:t>Stan wiedzy: źródła danych i istniejące rozwiązania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368000"/>
            <a:ext cx="5112000" cy="136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368000"/>
            <a:ext cx="64800" cy="1368000"/>
          </a:xfrm>
          <a:prstGeom prst="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000" y="1493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Otwarte Dane ZTM w Gdańsku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1781999"/>
            <a:ext cx="4823999" cy="88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C"/>
                </a:solidFill>
                <a:latin typeface="Aptos"/>
              </a:defRPr>
            </a:pPr>
            <a:r>
              <a:t>Publiczne zasoby obejmują m.in. pozycje GPS pojazdów, dane GTFS/GTFS-RT, rozkłady, przystanki i estymowane czasy odjazdów.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8000" y="1368000"/>
            <a:ext cx="5040000" cy="136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8000" y="1368000"/>
            <a:ext cx="64800" cy="1368000"/>
          </a:xfrm>
          <a:prstGeom prst="rect">
            <a:avLst/>
          </a:prstGeom>
          <a:solidFill>
            <a:srgbClr val="18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0000" y="1493999"/>
            <a:ext cx="47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Aplikacje pasażerskie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0000" y="1781999"/>
            <a:ext cx="4752000" cy="88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C"/>
                </a:solidFill>
                <a:latin typeface="Aptos"/>
              </a:defRPr>
            </a:pPr>
            <a:r>
              <a:t>Jakdojade, Google Maps/Transit i portale miejskie pokazują połączenia, rozkłady oraz często lokalizacje pojazdów w czasie rzeczywistym.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3114000"/>
            <a:ext cx="5112000" cy="136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0000" y="3114000"/>
            <a:ext cx="64800" cy="1368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000" y="3240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Technologie mapowe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000" y="3528000"/>
            <a:ext cx="4823999" cy="88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C"/>
                </a:solidFill>
                <a:latin typeface="Aptos"/>
              </a:defRPr>
            </a:pPr>
            <a:r>
              <a:t>Interaktywne mapy webowe są najczęściej budowane na kaflach mapowych i bibliotekach WebGL, np. MapLibre GL JS.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8000" y="3114000"/>
            <a:ext cx="5040000" cy="136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8000" y="3114000"/>
            <a:ext cx="64800" cy="1368000"/>
          </a:xfrm>
          <a:prstGeom prst="rect">
            <a:avLst/>
          </a:prstGeom>
          <a:solidFill>
            <a:srgbClr val="EE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0000" y="3240000"/>
            <a:ext cx="47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Modele obliczeniowe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0000" y="3528000"/>
            <a:ext cx="4752000" cy="88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C"/>
                </a:solidFill>
                <a:latin typeface="Aptos"/>
              </a:defRPr>
            </a:pPr>
            <a:r>
              <a:t>ETA i płynny ruch markerów wymagają łączenia GPS z rozkładem, filtracji błędnych punktów oraz interpolacji pozycji między aktualizacjami.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4932000"/>
            <a:ext cx="10512000" cy="720000"/>
          </a:xfrm>
          <a:prstGeom prst="rect">
            <a:avLst/>
          </a:prstGeom>
          <a:noFill/>
        </p:spPr>
        <p:txBody>
          <a:bodyPr wrap="square" lIns="36000" rIns="36000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Wniosek: nie trzeba budować źródeł danych od zera - kluczowa jest poprawna integracja, walidacja i prezentacja danych.</a:t>
            </a:r>
          </a:p>
          <a:p>
            <a:pPr>
              <a:spcAft>
                <a:spcPts val="6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Projekt może skoncentrować się na lokalnym, przejrzystym i otwartym portalu dla Gdańska.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6210000"/>
            <a:ext cx="1072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06C7C"/>
                </a:solidFill>
                <a:latin typeface="Aptos"/>
              </a:defRPr>
            </a:pPr>
            <a:r>
              <a:t>Źródła: ztm.gda.pl/otwarty_ztm, CKAN Otwarty Gdańsk, dokumentacja MapLibre GL 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C"/>
                </a:solidFill>
                <a:latin typeface="Aptos"/>
              </a:defRPr>
            </a:pPr>
            <a:r>
              <a:t>System śledzenia pojazdów komunikacji miejskiej w Gdańsku |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64000"/>
            <a:ext cx="413999" cy="149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F44"/>
                </a:solidFill>
                <a:latin typeface="Aptos Display"/>
              </a:defRPr>
            </a:pPr>
            <a:r>
              <a:t>Dlaczego istniejące rozwiązania nie są wystarczające?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098000"/>
            <a:ext cx="2124000" cy="270000"/>
          </a:xfrm>
          <a:prstGeom prst="round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luka projektowa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1440000"/>
            <a:ext cx="4968000" cy="381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28000" y="1440000"/>
            <a:ext cx="4968000" cy="381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7999" y="1638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1F44"/>
                </a:solidFill>
                <a:latin typeface="Aptos"/>
              </a:defRPr>
            </a:pPr>
            <a:r>
              <a:t>Typowe aplikacje komercyjne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2160000"/>
            <a:ext cx="3888000" cy="2052000"/>
          </a:xfrm>
          <a:prstGeom prst="rect">
            <a:avLst/>
          </a:prstGeom>
          <a:noFill/>
        </p:spPr>
        <p:txBody>
          <a:bodyPr wrap="square" lIns="36000" rIns="36000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reklamy i rozpraszający interfejs</a:t>
            </a:r>
          </a:p>
          <a:p>
            <a:pPr>
              <a:spcAft>
                <a:spcPts val="6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zamknięty kod i brak transparentności działania</a:t>
            </a:r>
          </a:p>
          <a:p>
            <a:pPr>
              <a:spcAft>
                <a:spcPts val="6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funkcje ogólnokrajowe kosztem prostoty dla jednego miasta</a:t>
            </a:r>
          </a:p>
          <a:p>
            <a:pPr>
              <a:spcAft>
                <a:spcPts val="6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ograniczona kontrola nad sposobem prezentacji danych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6000" y="1638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1F44"/>
                </a:solidFill>
                <a:latin typeface="Aptos"/>
              </a:defRPr>
            </a:pPr>
            <a:r>
              <a:t>Proponowany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8000" y="2160000"/>
            <a:ext cx="3888000" cy="2052000"/>
          </a:xfrm>
          <a:prstGeom prst="rect">
            <a:avLst/>
          </a:prstGeom>
          <a:noFill/>
        </p:spPr>
        <p:txBody>
          <a:bodyPr wrap="square" lIns="36000" rIns="36000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FOSS - kod możliwy do audytu i rozwoju</a:t>
            </a:r>
          </a:p>
          <a:p>
            <a:pPr>
              <a:spcAft>
                <a:spcPts val="6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całkowity brak reklam</a:t>
            </a:r>
          </a:p>
          <a:p>
            <a:pPr>
              <a:spcAft>
                <a:spcPts val="6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dedykowanie tylko komunikacji miejskiej w Gdańsku</a:t>
            </a:r>
          </a:p>
          <a:p>
            <a:pPr>
              <a:spcAft>
                <a:spcPts val="6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• interfejs Mobile First: szybki podgląd mapy, linii i przystanku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0" y="5544000"/>
            <a:ext cx="7200000" cy="324000"/>
          </a:xfrm>
          <a:prstGeom prst="round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wartość: prostota + otwartość + lokalna precyzja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C"/>
                </a:solidFill>
                <a:latin typeface="Aptos"/>
              </a:defRPr>
            </a:pPr>
            <a:r>
              <a:t>System śledzenia pojazdów komunikacji miejskiej w Gdańsku |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64000"/>
            <a:ext cx="413999" cy="149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F44"/>
                </a:solidFill>
                <a:latin typeface="Aptos Display"/>
              </a:defRPr>
            </a:pPr>
            <a:r>
              <a:t>Uzasadnienie potrzeby realizacji tematu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440000"/>
            <a:ext cx="3311999" cy="1475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440000"/>
            <a:ext cx="64800" cy="1475999"/>
          </a:xfrm>
          <a:prstGeom prst="rect">
            <a:avLst/>
          </a:prstGeom>
          <a:solidFill>
            <a:srgbClr val="18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000" y="1565999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A1F44"/>
                </a:solidFill>
                <a:latin typeface="Aptos"/>
              </a:defRPr>
            </a:pPr>
            <a:r>
              <a:t>Pasażer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1854000"/>
            <a:ext cx="3023999" cy="98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C"/>
                </a:solidFill>
                <a:latin typeface="Aptos"/>
              </a:defRPr>
            </a:pPr>
            <a:r>
              <a:t>Szybciej odpowiada na pytanie: 'czy zdążę?' i 'czy warto czekać?'. Mniej niepewności na przystanku.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000" y="1440000"/>
            <a:ext cx="3311999" cy="1475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8000" y="1440000"/>
            <a:ext cx="64800" cy="1475999"/>
          </a:xfrm>
          <a:prstGeom prst="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000" y="1565999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A1F44"/>
                </a:solidFill>
                <a:latin typeface="Aptos"/>
              </a:defRPr>
            </a:pPr>
            <a:r>
              <a:t>Miasto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000" y="1854000"/>
            <a:ext cx="3023999" cy="98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C"/>
                </a:solidFill>
                <a:latin typeface="Aptos"/>
              </a:defRPr>
            </a:pPr>
            <a:r>
              <a:t>Lepsze wykorzystanie otwartych danych publicznych oraz promocja transportu zbiorowego jako realnej alternatywy dla samochodu.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6000" y="1440000"/>
            <a:ext cx="3311999" cy="1475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6000" y="1440000"/>
            <a:ext cx="64800" cy="1475999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8000" y="1565999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A1F44"/>
                </a:solidFill>
                <a:latin typeface="Aptos"/>
              </a:defRPr>
            </a:pPr>
            <a:r>
              <a:t>Zespół badawczo-projektowy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8000" y="1854000"/>
            <a:ext cx="3023999" cy="98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C"/>
                </a:solidFill>
                <a:latin typeface="Aptos"/>
              </a:defRPr>
            </a:pPr>
            <a:r>
              <a:t>Praktyczna weryfikacja integracji API, filtrowania danych GPS, renderowania map i projektowania systemu realtime.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3456000"/>
            <a:ext cx="10224000" cy="1512000"/>
          </a:xfrm>
          <a:prstGeom prst="rect">
            <a:avLst/>
          </a:prstGeom>
          <a:noFill/>
        </p:spPr>
        <p:txBody>
          <a:bodyPr wrap="square" lIns="36000" rIns="36000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Transport publiczny jest usługą codzienną - mała poprawa dostępu do informacji ma duży efekt użytkowy.</a:t>
            </a:r>
          </a:p>
          <a:p>
            <a:pPr>
              <a:spcAft>
                <a:spcPts val="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Otwarte dane same w sobie nie rozwiązują problemu: trzeba je przetworzyć, zwalidować i pokazać w czytelnej formie.</a:t>
            </a:r>
          </a:p>
          <a:p>
            <a:pPr>
              <a:spcAft>
                <a:spcPts val="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Brak reklam oraz otwarty kod zmniejszają bariery korzystania i ułatwiają dalsze rozwijanie projektu.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C"/>
                </a:solidFill>
                <a:latin typeface="Aptos"/>
              </a:defRPr>
            </a:pPr>
            <a:r>
              <a:t>System śledzenia pojazdów komunikacji miejskiej w Gdańsku |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64000"/>
            <a:ext cx="413999" cy="149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F44"/>
                </a:solidFill>
                <a:latin typeface="Aptos Display"/>
              </a:defRPr>
            </a:pPr>
            <a:r>
              <a:t>Cel i zakres pracy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278000"/>
            <a:ext cx="1620000" cy="270000"/>
          </a:xfrm>
          <a:prstGeom prst="round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cel główny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638000"/>
            <a:ext cx="103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A1F44"/>
                </a:solidFill>
                <a:latin typeface="Aptos"/>
              </a:defRPr>
            </a:pPr>
            <a:r>
              <a:t>Zaprojektowanie, zaimplementowanie i wdrożenie portalu internetowego pozwalającego śledzić pojazdy komunikacji miejskiej w Gdańsku w czasie rzeczywistym.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2610000"/>
            <a:ext cx="4968000" cy="223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0000" y="2610000"/>
            <a:ext cx="64800" cy="2232000"/>
          </a:xfrm>
          <a:prstGeom prst="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000" y="2736000"/>
            <a:ext cx="47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44"/>
                </a:solidFill>
                <a:latin typeface="Aptos"/>
              </a:defRPr>
            </a:pPr>
            <a:r>
              <a:t>W zakresie pracy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000" y="3024000"/>
            <a:ext cx="4680000" cy="174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C"/>
                </a:solidFill>
                <a:latin typeface="Aptos"/>
              </a:defRPr>
            </a:pPr>
            <a:r>
              <a:t>- mapa z aktualnym położeniem autobusów i tramwajów</a:t>
            </a:r>
            <a:br/>
            <a:r>
              <a:t>- integracja z API Otwarte Dane Gdańsk</a:t>
            </a:r>
            <a:br/>
            <a:r>
              <a:t>- przystanki, rozkłady jazdy i ETA</a:t>
            </a:r>
            <a:br/>
            <a:r>
              <a:t>- filtrowanie linii / wybór przystanku</a:t>
            </a:r>
            <a:br/>
            <a:r>
              <a:t>- responsywny interfejs webowy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999" y="2610000"/>
            <a:ext cx="4968000" cy="223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999" y="2610000"/>
            <a:ext cx="64800" cy="2232000"/>
          </a:xfrm>
          <a:prstGeom prst="rect">
            <a:avLst/>
          </a:prstGeom>
          <a:solidFill>
            <a:srgbClr val="EE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5999" y="2736000"/>
            <a:ext cx="47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44"/>
                </a:solidFill>
                <a:latin typeface="Aptos"/>
              </a:defRPr>
            </a:pPr>
            <a:r>
              <a:t>Poza pierwszym zakresem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5999" y="3024000"/>
            <a:ext cx="4680000" cy="174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C"/>
                </a:solidFill>
                <a:latin typeface="Aptos"/>
              </a:defRPr>
            </a:pPr>
            <a:r>
              <a:t>- zakup biletów i płatności</a:t>
            </a:r>
            <a:br/>
            <a:r>
              <a:t>- rozbudowany planer tras door-to-door</a:t>
            </a:r>
            <a:br/>
            <a:r>
              <a:t>- aplikacje natywne iOS/Android</a:t>
            </a:r>
            <a:br/>
            <a:r>
              <a:t>- pełna analiza historyczna punktualności</a:t>
            </a:r>
            <a:br/>
            <a:r>
              <a:t>- integracje z systemami operatora wymagające dostępu niepublicznego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5400000"/>
            <a:ext cx="105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303C"/>
                </a:solidFill>
                <a:latin typeface="Aptos"/>
              </a:defRPr>
            </a:pPr>
            <a:r>
              <a:t>Zakres jest świadomie lokalny: lepiej dostarczyć dopracowane narzędzie dla Gdańska niż ogólny, przeciążony produkt.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C"/>
                </a:solidFill>
                <a:latin typeface="Aptos"/>
              </a:defRPr>
            </a:pPr>
            <a:r>
              <a:t>System śledzenia pojazdów komunikacji miejskiej w Gdańsku |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64000"/>
            <a:ext cx="413999" cy="149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F44"/>
                </a:solidFill>
                <a:latin typeface="Aptos Display"/>
              </a:defRPr>
            </a:pPr>
            <a:r>
              <a:t>Kiedy praca będzie ukończona? Kryteria sukcesu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332000"/>
            <a:ext cx="4932000" cy="120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332000"/>
            <a:ext cx="64800" cy="1206000"/>
          </a:xfrm>
          <a:prstGeom prst="rect">
            <a:avLst/>
          </a:prstGeom>
          <a:solidFill>
            <a:srgbClr val="18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000" y="1458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Dane realtime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1745999"/>
            <a:ext cx="4643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80" b="0">
                <a:solidFill>
                  <a:srgbClr val="28303C"/>
                </a:solidFill>
                <a:latin typeface="Aptos"/>
              </a:defRPr>
            </a:pPr>
            <a:r>
              <a:t>System cyklicznie pobiera i waliduje pozycje GPS z API Gdańska oraz odrzuca ewidentnie błędne rekordy.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2000" y="1332000"/>
            <a:ext cx="4932000" cy="120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2000" y="1332000"/>
            <a:ext cx="64800" cy="1206000"/>
          </a:xfrm>
          <a:prstGeom prst="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3999" y="1458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Mapa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999" y="1745999"/>
            <a:ext cx="4643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80" b="0">
                <a:solidFill>
                  <a:srgbClr val="28303C"/>
                </a:solidFill>
                <a:latin typeface="Aptos"/>
              </a:defRPr>
            </a:pPr>
            <a:r>
              <a:t>Użytkownik widzi aktualne pojazdy na mapie miasta wraz z numerem linii i podstawowymi szczegółami.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2790000"/>
            <a:ext cx="4932000" cy="120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0000" y="2790000"/>
            <a:ext cx="64800" cy="1206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000" y="2916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Przystanki i rozkłady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000" y="3204000"/>
            <a:ext cx="4643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80" b="0">
                <a:solidFill>
                  <a:srgbClr val="28303C"/>
                </a:solidFill>
                <a:latin typeface="Aptos"/>
              </a:defRPr>
            </a:pPr>
            <a:r>
              <a:t>Dla wybranego przystanku aplikacja prezentuje rozkład oraz prognozowany czas przyjazdu najbliższego pojazdu.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2000" y="2790000"/>
            <a:ext cx="4932000" cy="120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2000" y="2790000"/>
            <a:ext cx="64800" cy="1206000"/>
          </a:xfrm>
          <a:prstGeom prst="rect">
            <a:avLst/>
          </a:prstGeom>
          <a:solidFill>
            <a:srgbClr val="EE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3999" y="2916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Użyteczność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3999" y="3204000"/>
            <a:ext cx="4643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80" b="0">
                <a:solidFill>
                  <a:srgbClr val="28303C"/>
                </a:solidFill>
                <a:latin typeface="Aptos"/>
              </a:defRPr>
            </a:pPr>
            <a:r>
              <a:t>Interfejs działa na desktopie i telefonie, ma czytelne filtry linii i nie zawiera reklam.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000" y="4248000"/>
            <a:ext cx="4932000" cy="120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0000" y="4248000"/>
            <a:ext cx="64800" cy="120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000" y="4374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Jakość techniczna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000" y="4662000"/>
            <a:ext cx="4643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80" b="0">
                <a:solidFill>
                  <a:srgbClr val="28303C"/>
                </a:solidFill>
                <a:latin typeface="Aptos"/>
              </a:defRPr>
            </a:pPr>
            <a:r>
              <a:t>Backend i frontend mają testy kluczowych ścieżek, obsługę błędów API oraz dokumentację uruchomienia.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2000" y="4248000"/>
            <a:ext cx="4932000" cy="120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2000" y="4248000"/>
            <a:ext cx="64800" cy="1206000"/>
          </a:xfrm>
          <a:prstGeom prst="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3999" y="4374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F44"/>
                </a:solidFill>
                <a:latin typeface="Aptos"/>
              </a:defRPr>
            </a:pPr>
            <a:r>
              <a:t>Wdrożenie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3999" y="4662000"/>
            <a:ext cx="4643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80" b="0">
                <a:solidFill>
                  <a:srgbClr val="28303C"/>
                </a:solidFill>
                <a:latin typeface="Aptos"/>
              </a:defRPr>
            </a:pPr>
            <a:r>
              <a:t>Aplikacja jest uruchomiona w środowisku docelowym i może być pokazana promotorowi/użytkownikom testowym.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C"/>
                </a:solidFill>
                <a:latin typeface="Aptos"/>
              </a:defRPr>
            </a:pPr>
            <a:r>
              <a:t>System śledzenia pojazdów komunikacji miejskiej w Gdańsku |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64000"/>
            <a:ext cx="413999" cy="149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F44"/>
                </a:solidFill>
                <a:latin typeface="Aptos Display"/>
              </a:defRPr>
            </a:pPr>
            <a:r>
              <a:t>Wymagania i przypadki użycia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368000"/>
            <a:ext cx="3384000" cy="338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368000"/>
            <a:ext cx="64800" cy="3384000"/>
          </a:xfrm>
          <a:prstGeom prst="rect">
            <a:avLst/>
          </a:prstGeom>
          <a:solidFill>
            <a:srgbClr val="18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000" y="1493999"/>
            <a:ext cx="31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44"/>
                </a:solidFill>
                <a:latin typeface="Aptos"/>
              </a:defRPr>
            </a:pPr>
            <a:r>
              <a:t>Wymagania funkcjonalne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1781999"/>
            <a:ext cx="3096000" cy="28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8303C"/>
                </a:solidFill>
                <a:latin typeface="Aptos"/>
              </a:defRPr>
            </a:pPr>
            <a:r>
              <a:t>- wyświetlanie pojazdów na mapie</a:t>
            </a:r>
            <a:br/>
            <a:r>
              <a:t>- filtrowanie po liniach / typach pojazdów</a:t>
            </a:r>
            <a:br/>
            <a:r>
              <a:t>- lista i wyszukiwarka przystanków</a:t>
            </a:r>
            <a:br/>
            <a:r>
              <a:t>- rozkłady jazdy dla przystanku</a:t>
            </a:r>
            <a:br/>
            <a:r>
              <a:t>- ETA najbliższego pojazdu</a:t>
            </a:r>
            <a:br/>
            <a:r>
              <a:t>- komunikaty o błędach danych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2000" y="1368000"/>
            <a:ext cx="3384000" cy="338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2000" y="1368000"/>
            <a:ext cx="64800" cy="3384000"/>
          </a:xfrm>
          <a:prstGeom prst="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999" y="1493999"/>
            <a:ext cx="31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44"/>
                </a:solidFill>
                <a:latin typeface="Aptos"/>
              </a:defRPr>
            </a:pPr>
            <a:r>
              <a:t>Wymagania niefunkcjonalne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999" y="1781999"/>
            <a:ext cx="3096000" cy="28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8303C"/>
                </a:solidFill>
                <a:latin typeface="Aptos"/>
              </a:defRPr>
            </a:pPr>
            <a:r>
              <a:t>- szybka odpowiedź interfejsu</a:t>
            </a:r>
            <a:br/>
            <a:r>
              <a:t>- odporność na czasową niedostępność API</a:t>
            </a:r>
            <a:br/>
            <a:r>
              <a:t>- Mobile First i Responsive Design</a:t>
            </a:r>
            <a:br/>
            <a:r>
              <a:t>- czytelna mapa przy wielu markerach</a:t>
            </a:r>
            <a:br/>
            <a:r>
              <a:t>- brak reklam i poszanowanie prywatności</a:t>
            </a:r>
            <a:br/>
            <a:r>
              <a:t>- łatwe uruchomienie developerskie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3999" y="1368000"/>
            <a:ext cx="3384000" cy="338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3999" y="1368000"/>
            <a:ext cx="64800" cy="338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5999" y="1493999"/>
            <a:ext cx="31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F44"/>
                </a:solidFill>
                <a:latin typeface="Aptos"/>
              </a:defRPr>
            </a:pPr>
            <a:r>
              <a:t>Główne przypadki użycia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5999" y="1781999"/>
            <a:ext cx="3096000" cy="28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0">
                <a:solidFill>
                  <a:srgbClr val="28303C"/>
                </a:solidFill>
                <a:latin typeface="Aptos"/>
              </a:defRPr>
            </a:pPr>
            <a:r>
              <a:t>1. Pasażer otwiera mapę i sprawdza najbliższy pojazd.</a:t>
            </a:r>
            <a:br/>
            <a:r>
              <a:t>2. Pasażer filtruje konkretną linię.</a:t>
            </a:r>
            <a:br/>
            <a:r>
              <a:t>3. Pasażer wybiera przystanek i widzi rozkład/ETA.</a:t>
            </a:r>
            <a:br/>
            <a:r>
              <a:t>4. Użytkownik mobilny korzysta w drodze, bez logowania.</a:t>
            </a:r>
            <a:br/>
            <a:r>
              <a:t>5. Deweloper monitoruje healthcheck i błędy integracji.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C"/>
                </a:solidFill>
                <a:latin typeface="Aptos"/>
              </a:defRPr>
            </a:pPr>
            <a:r>
              <a:t>System śledzenia pojazdów komunikacji miejskiej w Gdańsku |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64000"/>
            <a:ext cx="413999" cy="149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F44"/>
                </a:solidFill>
                <a:latin typeface="Aptos Display"/>
              </a:defRPr>
            </a:pPr>
            <a:r>
              <a:t>Koncepcja systemu: architektura i przepływ danych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232000"/>
            <a:ext cx="1944000" cy="792000"/>
          </a:xfrm>
          <a:prstGeom prst="round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API Otwarte Dane</a:t>
            </a:r>
            <a:br/>
            <a:r>
              <a:t>Gdańsk / ZTM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6000" y="2232000"/>
            <a:ext cx="1944000" cy="792000"/>
          </a:xfrm>
          <a:prstGeom prst="roundRect">
            <a:avLst/>
          </a:prstGeom>
          <a:solidFill>
            <a:srgbClr val="18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  <a:br/>
            <a:r>
              <a:t>Python + 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32000" y="2232000"/>
            <a:ext cx="1620000" cy="792000"/>
          </a:xfrm>
          <a:prstGeom prst="roundRect">
            <a:avLst/>
          </a:prstGeom>
          <a:solidFill>
            <a:srgbClr val="EE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Cache</a:t>
            </a:r>
            <a:br/>
            <a:r>
              <a:t>Redis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0" y="2232000"/>
            <a:ext cx="1872000" cy="792000"/>
          </a:xfrm>
          <a:prstGeom prst="round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API wewnętrzne</a:t>
            </a:r>
            <a:br/>
            <a:r>
              <a:t>GeoJSON /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60000" y="2232000"/>
            <a:ext cx="1188000" cy="79200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Frontend</a:t>
            </a:r>
            <a:br/>
            <a:r>
              <a:t>React + MapLibre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64000" y="2628000"/>
            <a:ext cx="612000" cy="0"/>
          </a:xfrm>
          <a:prstGeom prst="line">
            <a:avLst/>
          </a:prstGeom>
          <a:ln w="25400">
            <a:solidFill>
              <a:srgbClr val="0A1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20000" y="2628000"/>
            <a:ext cx="612000" cy="0"/>
          </a:xfrm>
          <a:prstGeom prst="line">
            <a:avLst/>
          </a:prstGeom>
          <a:ln w="25400">
            <a:solidFill>
              <a:srgbClr val="0A1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52000" y="2628000"/>
            <a:ext cx="468000" cy="0"/>
          </a:xfrm>
          <a:prstGeom prst="line">
            <a:avLst/>
          </a:prstGeom>
          <a:ln w="25400">
            <a:solidFill>
              <a:srgbClr val="0A1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92000" y="2628000"/>
            <a:ext cx="468000" cy="0"/>
          </a:xfrm>
          <a:prstGeom prst="line">
            <a:avLst/>
          </a:prstGeom>
          <a:ln w="25400">
            <a:solidFill>
              <a:srgbClr val="0A1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3636000"/>
            <a:ext cx="10224000" cy="1584000"/>
          </a:xfrm>
          <a:prstGeom prst="rect">
            <a:avLst/>
          </a:prstGeom>
          <a:noFill/>
        </p:spPr>
        <p:txBody>
          <a:bodyPr wrap="square" lIns="36000" rIns="36000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Backend oddziela aplikację od niestabilności zewnętrznego API i może ukrywać różnice formatów danych.</a:t>
            </a:r>
          </a:p>
          <a:p>
            <a:pPr>
              <a:spcAft>
                <a:spcPts val="6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Redis ogranicza liczbę zapytań do zewnętrznego serwisu i przyspiesza odpowiedzi dla wielu użytkowników.</a:t>
            </a:r>
          </a:p>
          <a:p>
            <a:pPr>
              <a:spcAft>
                <a:spcPts val="6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GeoJSON jest naturalnym formatem dla warstwy mapowej: pojazdy i przystanki stają się obiektami przestrzennymi.</a:t>
            </a:r>
          </a:p>
          <a:p>
            <a:pPr>
              <a:spcAft>
                <a:spcPts val="6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Frontend odpowiada za UX: mapa, filtry, karty pojazdów/przystanków oraz interpolacja markerów między odświeżeniami.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C"/>
                </a:solidFill>
                <a:latin typeface="Aptos"/>
              </a:defRPr>
            </a:pPr>
            <a:r>
              <a:t>System śledzenia pojazdów komunikacji miejskiej w Gdańsku |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64000"/>
            <a:ext cx="413999" cy="149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F44"/>
                </a:solidFill>
                <a:latin typeface="Aptos Display"/>
              </a:defRPr>
            </a:pPr>
            <a:r>
              <a:t>Implementacja: narzędzia i biblioteki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440000"/>
            <a:ext cx="2448000" cy="345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440000"/>
            <a:ext cx="64800" cy="3456000"/>
          </a:xfrm>
          <a:prstGeom prst="rect">
            <a:avLst/>
          </a:prstGeom>
          <a:solidFill>
            <a:srgbClr val="18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000" y="1565999"/>
            <a:ext cx="21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A1F44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1854000"/>
            <a:ext cx="2160000" cy="2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C"/>
                </a:solidFill>
                <a:latin typeface="Aptos"/>
              </a:defRPr>
            </a:pPr>
            <a:r>
              <a:t>Python</a:t>
            </a:r>
            <a:br/>
            <a:r>
              <a:t>FastAPI</a:t>
            </a:r>
            <a:br/>
            <a:r>
              <a:t>Pydantic</a:t>
            </a:r>
            <a:br/>
            <a:r>
              <a:t>Redis</a:t>
            </a:r>
            <a:br/>
            <a:r>
              <a:t>Docker</a:t>
            </a:r>
            <a:br/>
            <a:r>
              <a:t>Postman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000" y="1440000"/>
            <a:ext cx="2448000" cy="345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000" y="1440000"/>
            <a:ext cx="64800" cy="3456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7999" y="1565999"/>
            <a:ext cx="21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A1F44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9" y="1854000"/>
            <a:ext cx="2160000" cy="2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C"/>
                </a:solidFill>
                <a:latin typeface="Aptos"/>
              </a:defRPr>
            </a:pPr>
            <a:r>
              <a:t>React</a:t>
            </a:r>
            <a:br/>
            <a:r>
              <a:t>TypeScript</a:t>
            </a:r>
            <a:br/>
            <a:r>
              <a:t>MapLibre GL JS</a:t>
            </a:r>
            <a:br/>
            <a:r>
              <a:t>Responsive CSS</a:t>
            </a:r>
            <a:br/>
            <a:r>
              <a:t>Mobile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440000"/>
            <a:ext cx="2448000" cy="345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2000" y="1440000"/>
            <a:ext cx="64800" cy="3456000"/>
          </a:xfrm>
          <a:prstGeom prst="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3999" y="1565999"/>
            <a:ext cx="21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A1F44"/>
                </a:solidFill>
                <a:latin typeface="Aptos"/>
              </a:defRPr>
            </a:pPr>
            <a:r>
              <a:t>Dane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999" y="1854000"/>
            <a:ext cx="2160000" cy="2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C"/>
                </a:solidFill>
                <a:latin typeface="Aptos"/>
              </a:defRPr>
            </a:pPr>
            <a:r>
              <a:t>Otwarte Dane Gdańsk</a:t>
            </a:r>
            <a:br/>
            <a:r>
              <a:t>GPS pojazdów</a:t>
            </a:r>
            <a:br/>
            <a:r>
              <a:t>GTFS / GTFS-RT</a:t>
            </a:r>
            <a:br/>
            <a:r>
              <a:t>Rozkłady i przystanki</a:t>
            </a:r>
            <a:br/>
            <a:r>
              <a:t>GeoJSON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7999" y="1440000"/>
            <a:ext cx="2448000" cy="345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27999" y="1440000"/>
            <a:ext cx="64800" cy="3456000"/>
          </a:xfrm>
          <a:prstGeom prst="rect">
            <a:avLst/>
          </a:prstGeom>
          <a:solidFill>
            <a:srgbClr val="EE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999" y="1565999"/>
            <a:ext cx="21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A1F44"/>
                </a:solidFill>
                <a:latin typeface="Aptos"/>
              </a:defRPr>
            </a:pPr>
            <a:r>
              <a:t>Organizacja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999" y="1854000"/>
            <a:ext cx="2160000" cy="2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C"/>
                </a:solidFill>
                <a:latin typeface="Aptos"/>
              </a:defRPr>
            </a:pPr>
            <a:r>
              <a:t>GitHub</a:t>
            </a:r>
            <a:br/>
            <a:r>
              <a:t>Kanban / backlog</a:t>
            </a:r>
            <a:br/>
            <a:r>
              <a:t>Overleaf (LaTeX)</a:t>
            </a:r>
            <a:br/>
            <a:r>
              <a:t>Testy i code review</a:t>
            </a:r>
            <a:br/>
            <a:r>
              <a:t>Dokumentacja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5400000"/>
            <a:ext cx="10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303C"/>
                </a:solidFill>
                <a:latin typeface="Aptos"/>
              </a:defRPr>
            </a:pPr>
            <a:r>
              <a:t>Dobór technologii wspiera dwa priorytety: szybką integrację danych realtime oraz wygodną wizualizację mapową w przeglądarce.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C"/>
                </a:solidFill>
                <a:latin typeface="Aptos"/>
              </a:defRPr>
            </a:pPr>
            <a:r>
              <a:t>System śledzenia pojazdów komunikacji miejskiej w Gdańsku |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64000"/>
            <a:ext cx="413999" cy="149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F44"/>
                </a:solidFill>
                <a:latin typeface="Aptos Display"/>
              </a:defRPr>
            </a:pPr>
            <a:r>
              <a:t>Stan zaawansowania i podział ról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296000"/>
            <a:ext cx="3348000" cy="1655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296000"/>
            <a:ext cx="64800" cy="1655999"/>
          </a:xfrm>
          <a:prstGeom prst="rect">
            <a:avLst/>
          </a:prstGeom>
          <a:solidFill>
            <a:srgbClr val="18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000" y="1422000"/>
            <a:ext cx="30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0A1F44"/>
                </a:solidFill>
                <a:latin typeface="Aptos"/>
              </a:defRPr>
            </a:pPr>
            <a:r>
              <a:t>Yuriy Dyedyk - Backend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1710000"/>
            <a:ext cx="3060000" cy="116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8303C"/>
                </a:solidFill>
                <a:latin typeface="Aptos"/>
              </a:defRPr>
            </a:pPr>
            <a:r>
              <a:t>Integracja z API Gdańska, przetwarzanie danych GPS, filtrowanie błędnych koordynat oraz wewnętrzne API w formacie GeoJSON.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2000" y="1296000"/>
            <a:ext cx="3348000" cy="1655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2000" y="1296000"/>
            <a:ext cx="64800" cy="1655999"/>
          </a:xfrm>
          <a:prstGeom prst="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999" y="1422000"/>
            <a:ext cx="30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0A1F44"/>
                </a:solidFill>
                <a:latin typeface="Aptos"/>
              </a:defRPr>
            </a:pPr>
            <a:r>
              <a:t>Valery Hulitsenka - Fullstack 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999" y="1710000"/>
            <a:ext cx="3060000" cy="116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8303C"/>
                </a:solidFill>
                <a:latin typeface="Aptos"/>
              </a:defRPr>
            </a:pPr>
            <a:r>
              <a:t>Wsparcie backendu i frontendu, wdrożenie, testowanie, łączenie warstw aplikacji oraz kontrola jakości zmian.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3999" y="1296000"/>
            <a:ext cx="3348000" cy="1655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3999" y="1296000"/>
            <a:ext cx="64800" cy="1655999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5999" y="1422000"/>
            <a:ext cx="30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50" b="1">
                <a:solidFill>
                  <a:srgbClr val="0A1F44"/>
                </a:solidFill>
                <a:latin typeface="Aptos"/>
              </a:defRPr>
            </a:pPr>
            <a:r>
              <a:t>Artem Ivliiev - Frontend 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5999" y="1710000"/>
            <a:ext cx="3060000" cy="116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8303C"/>
                </a:solidFill>
                <a:latin typeface="Aptos"/>
              </a:defRPr>
            </a:pPr>
            <a:r>
              <a:t>Responsywny interfejs React, integracja z MapLibre GL JS oraz interpolacja markerów pojazdów.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3438000"/>
            <a:ext cx="3024000" cy="27000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dotychczas wykonano / przygotowano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3870000"/>
            <a:ext cx="10224000" cy="1620000"/>
          </a:xfrm>
          <a:prstGeom prst="rect">
            <a:avLst/>
          </a:prstGeom>
          <a:noFill/>
        </p:spPr>
        <p:txBody>
          <a:bodyPr wrap="square" lIns="36000" rIns="36000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utworzenie i konfiguracja repozytorium GitHub</a:t>
            </a:r>
          </a:p>
          <a:p>
            <a:pPr>
              <a:spcAft>
                <a:spcPts val="6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podział ról i obowiązków w zespole projektowym</a:t>
            </a:r>
          </a:p>
          <a:p>
            <a:pPr>
              <a:spcAft>
                <a:spcPts val="6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opracowanie backlogu oraz tablicy Kanban</a:t>
            </a:r>
          </a:p>
          <a:p>
            <a:pPr>
              <a:spcAft>
                <a:spcPts val="6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szablon pracy dyplomowej w Overleaf / LaTeX</a:t>
            </a:r>
          </a:p>
          <a:p>
            <a:pPr>
              <a:spcAft>
                <a:spcPts val="6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wstępny research integracji API Otwarte Dane Gdańsk</a:t>
            </a:r>
          </a:p>
          <a:p>
            <a:pPr>
              <a:spcAft>
                <a:spcPts val="6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koncepcja stosu technologicznego: FastAPI + React + MapLibre GL 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C"/>
                </a:solidFill>
                <a:latin typeface="Aptos"/>
              </a:defRPr>
            </a:pPr>
            <a:r>
              <a:t>System śledzenia pojazdów komunikacji miejskiej w Gdańsku |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64000"/>
            <a:ext cx="413999" cy="149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F44"/>
                </a:solidFill>
                <a:latin typeface="Aptos Display"/>
              </a:defRPr>
            </a:pPr>
            <a:r>
              <a:t>Plan pracy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000" y="2232000"/>
            <a:ext cx="9684000" cy="0"/>
          </a:xfrm>
          <a:prstGeom prst="line">
            <a:avLst/>
          </a:prstGeom>
          <a:ln w="50800">
            <a:solidFill>
              <a:srgbClr val="DEE8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34000" y="1998000"/>
            <a:ext cx="468000" cy="468000"/>
          </a:xfrm>
          <a:prstGeom prst="ellipse">
            <a:avLst/>
          </a:prstGeom>
          <a:solidFill>
            <a:srgbClr val="18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000" y="264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F44"/>
                </a:solidFill>
                <a:latin typeface="Aptos"/>
              </a:defRPr>
            </a:pPr>
            <a:r>
              <a:t>Czerwiec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2951999"/>
            <a:ext cx="144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C"/>
                </a:solidFill>
                <a:latin typeface="Aptos"/>
              </a:defRPr>
            </a:pPr>
            <a:r>
              <a:t>Analiza wymagań, architektura, konfiguracja środowisk</a:t>
            </a:r>
          </a:p>
        </p:txBody>
      </p:sp>
      <p:sp>
        <p:nvSpPr>
          <p:cNvPr id="10" name="Oval 9"/>
          <p:cNvSpPr/>
          <p:nvPr/>
        </p:nvSpPr>
        <p:spPr>
          <a:xfrm>
            <a:off x="3366000" y="1998000"/>
            <a:ext cx="468000" cy="468000"/>
          </a:xfrm>
          <a:prstGeom prst="ellipse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8000" y="264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F44"/>
                </a:solidFill>
                <a:latin typeface="Aptos"/>
              </a:defRPr>
            </a:pPr>
            <a:r>
              <a:t>Lipiec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000" y="2951999"/>
            <a:ext cx="144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C"/>
                </a:solidFill>
                <a:latin typeface="Aptos"/>
              </a:defRPr>
            </a:pPr>
            <a:r>
              <a:t>Integracja z API Otwarte Dane i bazowa mapa Gdańska</a:t>
            </a:r>
          </a:p>
        </p:txBody>
      </p:sp>
      <p:sp>
        <p:nvSpPr>
          <p:cNvPr id="13" name="Oval 12"/>
          <p:cNvSpPr/>
          <p:nvPr/>
        </p:nvSpPr>
        <p:spPr>
          <a:xfrm>
            <a:off x="5598000" y="1998000"/>
            <a:ext cx="468000" cy="468000"/>
          </a:xfrm>
          <a:prstGeom prst="ellipse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0000" y="264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F44"/>
                </a:solidFill>
                <a:latin typeface="Aptos"/>
              </a:defRPr>
            </a:pPr>
            <a:r>
              <a:t>Sierpień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00" y="2951999"/>
            <a:ext cx="144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C"/>
                </a:solidFill>
                <a:latin typeface="Aptos"/>
              </a:defRPr>
            </a:pPr>
            <a:r>
              <a:t>Śledzenie GPS, walidacja danych, przystanki i rozkłady</a:t>
            </a:r>
          </a:p>
        </p:txBody>
      </p:sp>
      <p:sp>
        <p:nvSpPr>
          <p:cNvPr id="16" name="Oval 15"/>
          <p:cNvSpPr/>
          <p:nvPr/>
        </p:nvSpPr>
        <p:spPr>
          <a:xfrm>
            <a:off x="7830000" y="1998000"/>
            <a:ext cx="468000" cy="468000"/>
          </a:xfrm>
          <a:prstGeom prst="ellipse">
            <a:avLst/>
          </a:prstGeom>
          <a:solidFill>
            <a:srgbClr val="EE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000" y="264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F44"/>
                </a:solidFill>
                <a:latin typeface="Aptos"/>
              </a:defRPr>
            </a:pPr>
            <a:r>
              <a:t>Wrzesień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0000" y="2951999"/>
            <a:ext cx="144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C"/>
                </a:solidFill>
                <a:latin typeface="Aptos"/>
              </a:defRPr>
            </a:pPr>
            <a:r>
              <a:t>Mobile First, filtrowanie linii, interpolacja markerów</a:t>
            </a:r>
          </a:p>
        </p:txBody>
      </p:sp>
      <p:sp>
        <p:nvSpPr>
          <p:cNvPr id="19" name="Oval 18"/>
          <p:cNvSpPr/>
          <p:nvPr/>
        </p:nvSpPr>
        <p:spPr>
          <a:xfrm>
            <a:off x="10062000" y="1998000"/>
            <a:ext cx="468000" cy="46800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84000" y="2646000"/>
            <a:ext cx="12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F44"/>
                </a:solidFill>
                <a:latin typeface="Aptos"/>
              </a:defRPr>
            </a:pPr>
            <a:r>
              <a:t>Październik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2000" y="2951999"/>
            <a:ext cx="144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28303C"/>
                </a:solidFill>
                <a:latin typeface="Aptos"/>
              </a:defRPr>
            </a:pPr>
            <a:r>
              <a:t>Testy wydajności, optymalizacja, wdrożenie, dokumentacja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4824000"/>
            <a:ext cx="10260000" cy="720000"/>
          </a:xfrm>
          <a:prstGeom prst="rect">
            <a:avLst/>
          </a:prstGeom>
          <a:noFill/>
        </p:spPr>
        <p:txBody>
          <a:bodyPr wrap="square" lIns="36000" rIns="36000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Kamienie milowe prowadzą od integracji danych do gotowej aplikacji i dokumentacji pracy inżynierskiej.</a:t>
            </a:r>
          </a:p>
          <a:p>
            <a:pPr>
              <a:spcAft>
                <a:spcPts val="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• Po każdym etapie planowane są przeglądy z promotorem oraz aktualizacja backlogu projektu.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C"/>
                </a:solidFill>
                <a:latin typeface="Aptos"/>
              </a:defRPr>
            </a:pPr>
            <a:r>
              <a:t>System śledzenia pojazdów komunikacji miejskiej w Gdańsku |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399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64000"/>
            <a:ext cx="413999" cy="1494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A1F44"/>
                </a:solidFill>
                <a:latin typeface="Aptos Display"/>
              </a:defRPr>
            </a:pPr>
            <a:r>
              <a:t>Zagrożenia, ograniczenia i sposoby ograniczania ryzyka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368000"/>
            <a:ext cx="3311999" cy="14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368000"/>
            <a:ext cx="64800" cy="1440000"/>
          </a:xfrm>
          <a:prstGeom prst="rect">
            <a:avLst/>
          </a:prstGeom>
          <a:solidFill>
            <a:srgbClr val="C84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000" y="1493999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0A1F44"/>
                </a:solidFill>
                <a:latin typeface="Aptos"/>
              </a:defRPr>
            </a:pPr>
            <a:r>
              <a:t>Niedostępność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1781999"/>
            <a:ext cx="3023999" cy="9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80" b="0">
                <a:solidFill>
                  <a:srgbClr val="28303C"/>
                </a:solidFill>
                <a:latin typeface="Aptos"/>
              </a:defRPr>
            </a:pPr>
            <a:r>
              <a:t>cache, retry, komunikat w UI, dane ostatnio znane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6000" y="1368000"/>
            <a:ext cx="3311999" cy="14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6000" y="1368000"/>
            <a:ext cx="64800" cy="1440000"/>
          </a:xfrm>
          <a:prstGeom prst="rect">
            <a:avLst/>
          </a:prstGeom>
          <a:solidFill>
            <a:srgbClr val="EE9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8000" y="1493999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0A1F44"/>
                </a:solidFill>
                <a:latin typeface="Aptos"/>
              </a:defRPr>
            </a:pPr>
            <a:r>
              <a:t>Błędy GPS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8000" y="1781999"/>
            <a:ext cx="3023999" cy="9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80" b="0">
                <a:solidFill>
                  <a:srgbClr val="28303C"/>
                </a:solidFill>
                <a:latin typeface="Aptos"/>
              </a:defRPr>
            </a:pPr>
            <a:r>
              <a:t>walidacja współrzędnych, odrzucanie skoków, znaczniki czasu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2000" y="1368000"/>
            <a:ext cx="3311999" cy="14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2000" y="1368000"/>
            <a:ext cx="64800" cy="1440000"/>
          </a:xfrm>
          <a:prstGeom prst="rect">
            <a:avLst/>
          </a:prstGeom>
          <a:solidFill>
            <a:srgbClr val="18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3999" y="1493999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0A1F44"/>
                </a:solidFill>
                <a:latin typeface="Aptos"/>
              </a:defRPr>
            </a:pPr>
            <a:r>
              <a:t>Wydajność mapy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3999" y="1781999"/>
            <a:ext cx="3023999" cy="9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80" b="0">
                <a:solidFill>
                  <a:srgbClr val="28303C"/>
                </a:solidFill>
                <a:latin typeface="Aptos"/>
              </a:defRPr>
            </a:pPr>
            <a:r>
              <a:t>klastrowanie, warstwy wektorowe, ograniczenie rerenderów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3203999"/>
            <a:ext cx="3311999" cy="14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00" y="3203999"/>
            <a:ext cx="64800" cy="1440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000" y="3329999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0A1F44"/>
                </a:solidFill>
                <a:latin typeface="Aptos"/>
              </a:defRPr>
            </a:pPr>
            <a:r>
              <a:t>Interpolacja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000" y="3617999"/>
            <a:ext cx="3023999" cy="9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80" b="0">
                <a:solidFill>
                  <a:srgbClr val="28303C"/>
                </a:solidFill>
                <a:latin typeface="Aptos"/>
              </a:defRPr>
            </a:pPr>
            <a:r>
              <a:t>prosty model na start, testy na danych rzeczywistych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6000" y="3203999"/>
            <a:ext cx="3311999" cy="14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56000" y="3203999"/>
            <a:ext cx="64800" cy="1440000"/>
          </a:xfrm>
          <a:prstGeom prst="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8000" y="3329999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0A1F44"/>
                </a:solidFill>
                <a:latin typeface="Aptos"/>
              </a:defRPr>
            </a:pPr>
            <a:r>
              <a:t>Nowe biblioteki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8000" y="3617999"/>
            <a:ext cx="3023999" cy="9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80" b="0">
                <a:solidFill>
                  <a:srgbClr val="28303C"/>
                </a:solidFill>
                <a:latin typeface="Aptos"/>
              </a:defRPr>
            </a:pPr>
            <a:r>
              <a:t>prototypy techniczne, dokumentacja, podział odpowiedzialności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2000" y="3203999"/>
            <a:ext cx="3311999" cy="14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2000" y="3203999"/>
            <a:ext cx="64800" cy="1440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3999" y="3329999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0A1F44"/>
                </a:solidFill>
                <a:latin typeface="Aptos"/>
              </a:defRPr>
            </a:pPr>
            <a:r>
              <a:t>Mobile 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3999" y="3617999"/>
            <a:ext cx="3023999" cy="9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80" b="0">
                <a:solidFill>
                  <a:srgbClr val="28303C"/>
                </a:solidFill>
                <a:latin typeface="Aptos"/>
              </a:defRPr>
            </a:pPr>
            <a:r>
              <a:t>projekt Mobile First, testy na ekranach o różnych rozdzielczościach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5256000"/>
            <a:ext cx="105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0">
                <a:solidFill>
                  <a:srgbClr val="28303C"/>
                </a:solidFill>
                <a:latin typeface="Aptos"/>
              </a:defRPr>
            </a:pPr>
            <a:r>
              <a:t>Największe ryzyko nie leży w samym wyświetleniu mapy, lecz w jakości i aktualności danych oraz w utrzymaniu płynności interfejsu przy wielu pojazdach.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C"/>
                </a:solidFill>
                <a:latin typeface="Aptos"/>
              </a:defRPr>
            </a:pPr>
            <a:r>
              <a:t>System śledzenia pojazdów komunikacji miejskiej w Gdańsku |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360000"/>
            <a:ext cx="10728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Aptos Display"/>
              </a:defRPr>
            </a:pPr>
            <a:r>
              <a:t>Podsumowanie</a:t>
            </a:r>
          </a:p>
          <a:p>
            <a:pPr>
              <a:spcBef>
                <a:spcPts val="400"/>
              </a:spcBef>
              <a:defRPr sz="1500">
                <a:solidFill>
                  <a:srgbClr val="DEE8F4"/>
                </a:solidFill>
                <a:latin typeface="Aptos"/>
              </a:defRPr>
            </a:pPr>
            <a:r>
              <a:t>Co chcemy dowieźć w pracy inżynierskiej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1512000"/>
            <a:ext cx="6983999" cy="1944000"/>
          </a:xfrm>
          <a:prstGeom prst="rect">
            <a:avLst/>
          </a:prstGeom>
          <a:noFill/>
        </p:spPr>
        <p:txBody>
          <a:bodyPr wrap="square" lIns="36000" rIns="36000">
            <a:norm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Otwarty, pozbawiony reklam portal dla pasażerów komunikacji miejskiej w Gdańsku.</a:t>
            </a:r>
          </a:p>
          <a:p>
            <a:pPr>
              <a:spcAft>
                <a:spcPts val="6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Czytelna mapa pojazdów w czasie rzeczywistym, przystanki, rozkłady jazdy i ETA.</a:t>
            </a:r>
          </a:p>
          <a:p>
            <a:pPr>
              <a:spcAft>
                <a:spcPts val="6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Architektura: FastAPI + Redis + React + MapLibre GL JS + dane Otwartego Gdańska.</a:t>
            </a:r>
          </a:p>
          <a:p>
            <a:pPr>
              <a:spcAft>
                <a:spcPts val="6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Sukces projektu będzie mierzony działającym wdrożeniem, użytecznością mobilną, testami i dokumentacją.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3978000"/>
            <a:ext cx="6048000" cy="75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3978000"/>
            <a:ext cx="64800" cy="756000"/>
          </a:xfrm>
          <a:prstGeom prst="rect">
            <a:avLst/>
          </a:prstGeom>
          <a:solidFill>
            <a:srgbClr val="29A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000" y="4104000"/>
            <a:ext cx="579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F44"/>
                </a:solidFill>
                <a:latin typeface="Aptos"/>
              </a:defRPr>
            </a:pPr>
            <a:r>
              <a:t>Repozytorium projektu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000" y="4392000"/>
            <a:ext cx="57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303C"/>
                </a:solidFill>
                <a:latin typeface="Aptos"/>
              </a:defRPr>
            </a:pPr>
            <a:r>
              <a:t>https://github.com/NightRzz/Real-time-public-trasport-monitoring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78000"/>
            <a:ext cx="7560000" cy="118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000" y="4878000"/>
            <a:ext cx="64800" cy="1188000"/>
          </a:xfrm>
          <a:prstGeom prst="rect">
            <a:avLst/>
          </a:prstGeom>
          <a:solidFill>
            <a:srgbClr val="24A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000" y="5004000"/>
            <a:ext cx="73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F44"/>
                </a:solidFill>
                <a:latin typeface="Aptos"/>
              </a:defRPr>
            </a:pPr>
            <a:r>
              <a:t>Wybrane źródła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000" y="5292000"/>
            <a:ext cx="7272000" cy="70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03C"/>
                </a:solidFill>
                <a:latin typeface="Aptos"/>
              </a:defRPr>
            </a:pPr>
            <a:r>
              <a:t>- Otwarte Dane ZTM w Gdańsku: ztm.gda.pl/otwarty_ztm</a:t>
            </a:r>
            <a:br/>
            <a:r>
              <a:t>- CKAN Otwarty Gdańsk: ckan.multimediagdansk.pl</a:t>
            </a:r>
            <a:br/>
            <a:r>
              <a:t>- GTFS Realtime: gtfs.org/realtime</a:t>
            </a:r>
            <a:br/>
            <a:r>
              <a:t>- MapLibre GL JS: maplibre.org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1692000"/>
            <a:ext cx="3131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Dziękujemy za uwagę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6000" y="2304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9ABE2"/>
                </a:solidFill>
                <a:latin typeface="Aptos"/>
              </a:defRPr>
            </a:pPr>
            <a:r>
              <a:t>Pytania?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6516000"/>
            <a:ext cx="10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DEE8F4"/>
                </a:solidFill>
                <a:latin typeface="Aptos"/>
              </a:defRPr>
            </a:pPr>
            <a:r>
              <a:t>System śledzenia pojazdów komunikacji miejskiej w Gdańsku |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śledzenia na żywo pojazdów komunikacji miejskiej w Gdańsku</dc:title>
  <dc:subject>Prezentacja projektu inżynierskiego</dc:subject>
  <dc:creator>Yuriy Dyedyk, Valery Hulitsenka, Artem Ivliiev</dc:creator>
  <cp:keywords/>
  <dc:description>Wygenerowano jako prezentację 10-15 minutową w języku polskim.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